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87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2D401AC-D32C-C234-5487-24CEEFECEBA6}"/>
              </a:ext>
            </a:extLst>
          </p:cNvPr>
          <p:cNvGrpSpPr/>
          <p:nvPr/>
        </p:nvGrpSpPr>
        <p:grpSpPr>
          <a:xfrm>
            <a:off x="4765638" y="-10758"/>
            <a:ext cx="4389120" cy="5143500"/>
            <a:chOff x="4754880" y="0"/>
            <a:chExt cx="4389120" cy="5143500"/>
          </a:xfrm>
        </p:grpSpPr>
        <p:sp>
          <p:nvSpPr>
            <p:cNvPr id="3" name="Shape 1"/>
            <p:cNvSpPr/>
            <p:nvPr/>
          </p:nvSpPr>
          <p:spPr>
            <a:xfrm>
              <a:off x="4754880" y="0"/>
              <a:ext cx="4389120" cy="5143500"/>
            </a:xfrm>
            <a:prstGeom prst="rect">
              <a:avLst/>
            </a:prstGeom>
            <a:solidFill>
              <a:schemeClr val="accent1">
                <a:lumMod val="75000"/>
                <a:alpha val="42000"/>
              </a:schemeClr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939911" y="0"/>
              <a:ext cx="146304" cy="514350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392030" y="2790218"/>
              <a:ext cx="1629784" cy="11026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0" dirty="0">
                  <a:solidFill>
                    <a:srgbClr val="000000"/>
                  </a:solidFill>
                </a:rPr>
                <a:t>🛍</a:t>
              </a:r>
              <a:endParaRPr lang="en-US" sz="1000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C8FB89A-11AF-B616-151E-FC1D9BD71A4D}"/>
                </a:ext>
              </a:extLst>
            </p:cNvPr>
            <p:cNvGrpSpPr/>
            <p:nvPr/>
          </p:nvGrpSpPr>
          <p:grpSpPr>
            <a:xfrm>
              <a:off x="5334005" y="4483610"/>
              <a:ext cx="3764450" cy="586294"/>
              <a:chOff x="253341" y="3931920"/>
              <a:chExt cx="4227219" cy="658368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36052468-5583-D2F0-A55F-1F97D77DCE72}"/>
                  </a:ext>
                </a:extLst>
              </p:cNvPr>
              <p:cNvSpPr/>
              <p:nvPr/>
            </p:nvSpPr>
            <p:spPr>
              <a:xfrm>
                <a:off x="253341" y="4017983"/>
                <a:ext cx="4141156" cy="50023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274320" y="3931920"/>
                <a:ext cx="420624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10,500 customers  ·  6 age groups  ·  4 seasons  ·  6 categories</a:t>
                </a:r>
                <a:endParaRPr lang="en-US" sz="1100" dirty="0"/>
              </a:p>
            </p:txBody>
          </p:sp>
        </p:grpSp>
        <p:sp>
          <p:nvSpPr>
            <p:cNvPr id="8" name="Text 6"/>
            <p:cNvSpPr/>
            <p:nvPr/>
          </p:nvSpPr>
          <p:spPr>
            <a:xfrm>
              <a:off x="5374434" y="2581117"/>
              <a:ext cx="31950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kern="0" spc="10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THE GENERATIONAL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374434" y="2964358"/>
              <a:ext cx="1944444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kern="0" spc="10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DIVIDE IN</a:t>
              </a:r>
              <a:endParaRPr lang="en-US" sz="3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74434" y="3407035"/>
              <a:ext cx="2030506" cy="4754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kern="0" spc="100" dirty="0"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solidFill>
                    <a:srgbClr val="028090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SHOPPING</a:t>
              </a:r>
              <a:endParaRPr lang="en-US" sz="30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387880" y="3823087"/>
              <a:ext cx="3361765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B2DF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Age Shapes Consumer Behavior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B2DF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the Digital Era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212080" y="2290572"/>
              <a:ext cx="3840480" cy="36576"/>
            </a:xfrm>
            <a:prstGeom prst="rect">
              <a:avLst/>
            </a:prstGeom>
            <a:solidFill>
              <a:srgbClr val="F4845F"/>
            </a:solidFill>
            <a:ln w="12700">
              <a:solidFill>
                <a:srgbClr val="F4845F"/>
              </a:solidFill>
              <a:prstDash val="solid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We Set Out to Answer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 for our data story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8412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24128"/>
            <a:ext cx="91440" cy="10058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24128"/>
            <a:ext cx="8092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generational differences influence consumer shopping behaviour, and what patterns emerge across age groups in spending habits, product preferences, and purchasing frequency?"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2697480" cy="12618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60120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Retailers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 can increase conversion rates by up to 40%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18688" y="2240280"/>
            <a:ext cx="2697480" cy="12618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1868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13048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Platforms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13048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preferences drive better product recommendations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71616" y="2240280"/>
            <a:ext cx="2697480" cy="12618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7161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65976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Marketers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65976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Age-specific insights enable personalised campaigns that resonate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694176"/>
            <a:ext cx="18745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73989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10,500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65760" y="4233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57400" y="3694176"/>
            <a:ext cx="18745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57400" y="373989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057400" y="4233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3694176"/>
            <a:ext cx="1874520" cy="9144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49040" y="373989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29.3%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749040" y="4233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Subscriptions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3694176"/>
            <a:ext cx="18745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40680" y="373989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440680" y="4233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694176"/>
            <a:ext cx="18745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32320" y="373989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6.2x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132320" y="4233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Buys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1 — Who Spends the Most?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 across generational cohorts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 ·  SPENDING</a:t>
            </a:r>
            <a:endParaRPr lang="en-US" sz="950" dirty="0"/>
          </a:p>
        </p:txBody>
      </p:sp>
      <p:pic>
        <p:nvPicPr>
          <p:cNvPr id="8" name="Image 0" descr="/home/claude/consumer_pptx/fig1_spending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5577840" cy="355432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960120"/>
            <a:ext cx="274320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426464"/>
            <a:ext cx="24688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57276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56832" y="16093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Earners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56832" y="18653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 age group tops at $111 avg — peak earning &amp; family expenditure years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640" y="237744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56832" y="24140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Youth Budget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656832" y="26700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group spends just $61 — entry-level incomes &amp; student budgets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318211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56832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110% Gap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656832" y="34747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vs lowest spenders differ by over 2× in avg transaction value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63640" y="39867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656832" y="4023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656832" y="42793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products should target 36–45; value offers resonate with 18–25 &amp; 65+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1b — Does Season Move the Needle?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volume across the four seasons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 ·  SEASONAL</a:t>
            </a:r>
            <a:endParaRPr lang="en-US" sz="950" dirty="0"/>
          </a:p>
        </p:txBody>
      </p:sp>
      <p:pic>
        <p:nvPicPr>
          <p:cNvPr id="8" name="Image 0" descr="/home/claude/consumer_pptx/fig4_seas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62" y="1225296"/>
            <a:ext cx="5120640" cy="2798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987552"/>
            <a:ext cx="283464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987552"/>
            <a:ext cx="73152" cy="8778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060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🌸 Spring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1335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$231,154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post-winter spending surge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1975104"/>
            <a:ext cx="283464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1975104"/>
            <a:ext cx="73152" cy="877824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0482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Summer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72200" y="23225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$218,967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surprisingly flat despite holidays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2962656"/>
            <a:ext cx="283464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2962656"/>
            <a:ext cx="73152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🍂 Fall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72200" y="3310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$226,223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7220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— back-to-school and events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89320" y="3950208"/>
            <a:ext cx="283464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89320" y="3950208"/>
            <a:ext cx="73152" cy="87782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7220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❄️ Winter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4297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$226,709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72200" y="4517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holiday gifting season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279392"/>
            <a:ext cx="5120640" cy="658368"/>
          </a:xfrm>
          <a:prstGeom prst="rect">
            <a:avLst/>
          </a:prstGeom>
          <a:solidFill>
            <a:srgbClr val="EAF7F9"/>
          </a:solidFill>
          <a:ln w="19050">
            <a:solidFill>
              <a:srgbClr val="B2DF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4279392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42793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variation is narrow (~$12k spread). Demand is year-round — season alone isn't a reliable targeting lever.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2 — Who Shops Most Often?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reveals engagement, not just spend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 ·  FREQUENCY</a:t>
            </a:r>
            <a:endParaRPr lang="en-US" sz="950" dirty="0"/>
          </a:p>
        </p:txBody>
      </p:sp>
      <p:pic>
        <p:nvPicPr>
          <p:cNvPr id="8" name="Image 0" descr="/home/claude/consumer_pptx/fig2_frequency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4" y="1282314"/>
            <a:ext cx="539496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960120"/>
            <a:ext cx="288036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1069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Findings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80760" y="1417320"/>
            <a:ext cx="2606040" cy="274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536192"/>
            <a:ext cx="26060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3.6×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080760" y="2029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26-35s shop vs 65+ per year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80760" y="242316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19088" y="2441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Natives (18–35)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19088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9x/yr — comfortable with apps, flash sales &amp; subscriptions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80760" y="320040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19088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Mid-Life (36–55)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19088" y="3474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5–6x/yr — intentional but regular purchasing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80760" y="397764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🟣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19088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Seniors (56+)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19088" y="42519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2.5–3.5x/yr — deliberate, planned buys over impulse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4297680"/>
            <a:ext cx="5394960" cy="640080"/>
          </a:xfrm>
          <a:prstGeom prst="rect">
            <a:avLst/>
          </a:prstGeom>
          <a:solidFill>
            <a:srgbClr val="EAF7F9"/>
          </a:solidFill>
          <a:ln w="19050">
            <a:solidFill>
              <a:srgbClr val="B2DF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" y="429768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" y="4297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segments: flash sales, subscription boxes, gamification. Older segments: curated collections, quality messaging.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3 — The Subscription Effect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subscribers spend more and shop more often?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84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  ·  SUBSCRIPTION</a:t>
            </a:r>
            <a:endParaRPr lang="en-US" sz="950" dirty="0"/>
          </a:p>
        </p:txBody>
      </p:sp>
      <p:pic>
        <p:nvPicPr>
          <p:cNvPr id="8" name="Image 0" descr="/home/claude/consumer_pptx/fig3_scatter_sub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14" y="1197864"/>
            <a:ext cx="5120640" cy="2843784"/>
          </a:xfrm>
          <a:prstGeom prst="rect">
            <a:avLst/>
          </a:prstGeom>
        </p:spPr>
      </p:pic>
      <p:pic>
        <p:nvPicPr>
          <p:cNvPr id="9" name="Image 1" descr="/home/claude/consumer_pptx/fig6_subscription_p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786231"/>
            <a:ext cx="2560320" cy="20192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80760" y="1871831"/>
            <a:ext cx="13716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080760" y="2068427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$90.93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103620" y="23251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avg spend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589520" y="1871831"/>
            <a:ext cx="13716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589520" y="2065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$83.96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12380" y="2310071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 avg spend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914400"/>
            <a:ext cx="27889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103620" y="8686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spend premium for subscribers · 1.1 more purchases/yr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4297680"/>
            <a:ext cx="5120640" cy="658368"/>
          </a:xfrm>
          <a:prstGeom prst="rect">
            <a:avLst/>
          </a:prstGeom>
          <a:solidFill>
            <a:srgbClr val="EAF7F9"/>
          </a:solidFill>
          <a:ln w="19050">
            <a:solidFill>
              <a:srgbClr val="B2DF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" y="429768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6344" y="42976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form a virtuous cycle: higher frequency drives higher spend. Target 26–45 for conversion campaigns.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View — Which Categories Drive the Most Spend?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 by product category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DIVE  ·  CATEGORIES</a:t>
            </a:r>
            <a:endParaRPr lang="en-US" sz="950" dirty="0"/>
          </a:p>
        </p:txBody>
      </p:sp>
      <p:pic>
        <p:nvPicPr>
          <p:cNvPr id="8" name="Image 0" descr="/home/claude/consumer_pptx/fig5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58914"/>
            <a:ext cx="5303520" cy="34061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97880" y="960120"/>
            <a:ext cx="292608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1069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Insights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399032"/>
            <a:ext cx="26517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1481328"/>
            <a:ext cx="274320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E9EE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481328"/>
            <a:ext cx="54864" cy="47548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1527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Books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35240" y="15270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$88.10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17465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 per transaction — educational value driver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2029968"/>
            <a:ext cx="274320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E9EE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029968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20756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🏃 Sports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35240" y="2075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$86.81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72200" y="22951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lifestyle correlates with higher willingness to pay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035040" y="2578608"/>
            <a:ext cx="274320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E9EE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2578608"/>
            <a:ext cx="54864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2624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💄 Beauty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5240" y="26243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$86.43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72200" y="28437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repeat-purchase category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035040" y="3127248"/>
            <a:ext cx="274320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E9EE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0" y="3127248"/>
            <a:ext cx="5486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31729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🏡 Home &amp; Gard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35240" y="31729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$85.43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72200" y="33924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peaks in Spring &amp; Fall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35040" y="3675888"/>
            <a:ext cx="274320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E9EE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35040" y="3675888"/>
            <a:ext cx="54864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72200" y="37216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Electronics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635240" y="37216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$85.32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172200" y="39410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purchases, lower frequency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035040" y="4224528"/>
            <a:ext cx="274320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E9EE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35040" y="4224528"/>
            <a:ext cx="54864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72200" y="42702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👔 Clothing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635240" y="4270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$83.89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172200" y="44897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volume, lowest avg spend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Three-Part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to do next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826188"/>
            <a:ext cx="173736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61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27432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6E3B3A2-DEBE-02A2-D226-8EEEF823386C}"/>
              </a:ext>
            </a:extLst>
          </p:cNvPr>
          <p:cNvGrpSpPr/>
          <p:nvPr/>
        </p:nvGrpSpPr>
        <p:grpSpPr>
          <a:xfrm>
            <a:off x="320040" y="1274785"/>
            <a:ext cx="2743200" cy="3423084"/>
            <a:chOff x="320040" y="1016600"/>
            <a:chExt cx="2743200" cy="342308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146AC68-2702-C6A6-B2EE-F9B8A7A23382}"/>
                </a:ext>
              </a:extLst>
            </p:cNvPr>
            <p:cNvGrpSpPr/>
            <p:nvPr/>
          </p:nvGrpSpPr>
          <p:grpSpPr>
            <a:xfrm>
              <a:off x="320040" y="1016600"/>
              <a:ext cx="2743200" cy="3423084"/>
              <a:chOff x="320040" y="1005840"/>
              <a:chExt cx="2743200" cy="3423084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320040" y="1027356"/>
                <a:ext cx="2743200" cy="658368"/>
              </a:xfrm>
              <a:prstGeom prst="rect">
                <a:avLst/>
              </a:prstGeom>
              <a:solidFill>
                <a:srgbClr val="1B2A4A"/>
              </a:solidFill>
              <a:ln w="12700">
                <a:solidFill>
                  <a:srgbClr val="1B2A4A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9" name="Text 7"/>
              <p:cNvSpPr/>
              <p:nvPr/>
            </p:nvSpPr>
            <p:spPr>
              <a:xfrm>
                <a:off x="320040" y="1005840"/>
                <a:ext cx="475488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5A623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1</a:t>
                </a:r>
                <a:endParaRPr lang="en-US" sz="22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795528" y="1051560"/>
                <a:ext cx="2231136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💰 Premium Positioning</a:t>
                </a:r>
                <a:endParaRPr lang="en-US" sz="13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795528" y="1362456"/>
                <a:ext cx="223113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B2DFE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Target: 36–45 Age Group</a:t>
                </a:r>
                <a:endParaRPr lang="en-US" sz="100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320040" y="1685724"/>
                <a:ext cx="2743200" cy="27432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E2EC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</p:grpSp>
        <p:sp>
          <p:nvSpPr>
            <p:cNvPr id="14" name="Text 12"/>
            <p:cNvSpPr/>
            <p:nvPr/>
          </p:nvSpPr>
          <p:spPr>
            <a:xfrm>
              <a:off x="448056" y="1792224"/>
              <a:ext cx="2487168" cy="2487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Launch premium product lines for established professionals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Emphasise quality, durability &amp; brand prestige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White-glove service &amp; concierge experiences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Focus ad spend on channels this demo frequents</a:t>
              </a:r>
              <a:endParaRPr lang="en-US" sz="11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360E00-8A05-4ACC-FED3-032B4BF36806}"/>
              </a:ext>
            </a:extLst>
          </p:cNvPr>
          <p:cNvGrpSpPr/>
          <p:nvPr/>
        </p:nvGrpSpPr>
        <p:grpSpPr>
          <a:xfrm>
            <a:off x="3249348" y="1500695"/>
            <a:ext cx="2743200" cy="3401568"/>
            <a:chOff x="3227832" y="1005840"/>
            <a:chExt cx="2743200" cy="3401568"/>
          </a:xfrm>
        </p:grpSpPr>
        <p:sp>
          <p:nvSpPr>
            <p:cNvPr id="15" name="Shape 13"/>
            <p:cNvSpPr/>
            <p:nvPr/>
          </p:nvSpPr>
          <p:spPr>
            <a:xfrm>
              <a:off x="3227832" y="1005840"/>
              <a:ext cx="2743200" cy="6583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Text 14"/>
            <p:cNvSpPr/>
            <p:nvPr/>
          </p:nvSpPr>
          <p:spPr>
            <a:xfrm>
              <a:off x="3264408" y="1005840"/>
              <a:ext cx="47548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A623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703320" y="1051560"/>
              <a:ext cx="223113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🔄 Frequency-First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703320" y="1362456"/>
              <a:ext cx="2231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B2DF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Target: 18–35 Age Group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227832" y="1664208"/>
              <a:ext cx="2743200" cy="27432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C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3227832" y="1664208"/>
              <a:ext cx="2743200" cy="54864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3355848" y="1792224"/>
              <a:ext cx="2487168" cy="2487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Aggressive subscription models with perks &amp; discounts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Gamification: points, badges, streaks for engagement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Frequent flash sales &amp; limited-time offers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Optimise mobile — this group shops on the go</a:t>
              </a:r>
              <a:endParaRPr lang="en-US" sz="115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179A57-CAEB-7B7D-AA97-37F43E379B38}"/>
              </a:ext>
            </a:extLst>
          </p:cNvPr>
          <p:cNvGrpSpPr/>
          <p:nvPr/>
        </p:nvGrpSpPr>
        <p:grpSpPr>
          <a:xfrm>
            <a:off x="6200172" y="1005840"/>
            <a:ext cx="2846476" cy="3401568"/>
            <a:chOff x="6135624" y="1005840"/>
            <a:chExt cx="2846476" cy="3401568"/>
          </a:xfrm>
        </p:grpSpPr>
        <p:sp>
          <p:nvSpPr>
            <p:cNvPr id="22" name="Shape 20"/>
            <p:cNvSpPr/>
            <p:nvPr/>
          </p:nvSpPr>
          <p:spPr>
            <a:xfrm>
              <a:off x="6135624" y="1005840"/>
              <a:ext cx="2743200" cy="658368"/>
            </a:xfrm>
            <a:prstGeom prst="rect">
              <a:avLst/>
            </a:prstGeom>
            <a:solidFill>
              <a:srgbClr val="F4845F"/>
            </a:solidFill>
            <a:ln w="12700">
              <a:solidFill>
                <a:srgbClr val="F484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6135624" y="1005840"/>
              <a:ext cx="47548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A623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508377" y="1062318"/>
              <a:ext cx="2473723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🎯 Subscription as North Star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611112" y="1362456"/>
              <a:ext cx="2231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B2DF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Target: All, prioritise 26–45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135624" y="1664208"/>
              <a:ext cx="2743200" cy="27432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C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6135624" y="1664208"/>
              <a:ext cx="2743200" cy="54864"/>
            </a:xfrm>
            <a:prstGeom prst="rect">
              <a:avLst/>
            </a:prstGeom>
            <a:solidFill>
              <a:srgbClr val="F4845F"/>
            </a:solidFill>
            <a:ln w="12700">
              <a:solidFill>
                <a:srgbClr val="F4845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263640" y="1792224"/>
              <a:ext cx="2487168" cy="2487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Make subscription conversion the primary KPI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Irresistible first-month trials with exclusive benefits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 subscription tiers for all budget levels</a:t>
              </a:r>
              <a:endParaRPr lang="en-US" sz="115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LTV by cohort and optimise continuously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three-part strategy is implemented effectively: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468880" cy="2560320"/>
          </a:xfrm>
          <a:prstGeom prst="rect">
            <a:avLst/>
          </a:prstGeom>
          <a:solidFill>
            <a:srgbClr val="0D1E36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20–25%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average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44952"/>
            <a:ext cx="192024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premium positioning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36–45 segment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468880" cy="2560320"/>
          </a:xfrm>
          <a:prstGeom prst="rect">
            <a:avLst/>
          </a:prstGeom>
          <a:solidFill>
            <a:srgbClr val="0D1E36"/>
          </a:solidFill>
          <a:ln w="1905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89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in purchase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6160" y="3044952"/>
            <a:ext cx="1920240" cy="1828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108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subscription models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younger shoppers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468880" cy="2560320"/>
          </a:xfrm>
          <a:prstGeom prst="rect">
            <a:avLst/>
          </a:prstGeom>
          <a:solidFill>
            <a:srgbClr val="0D1E36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389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35040" y="19202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50–60%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2560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044952"/>
            <a:ext cx="192024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108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targeted engagement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cohort optimisation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919472"/>
            <a:ext cx="85039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 isn't uniform — it's generational. The businesses that win will understand, target, convert, and optimise.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🔮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has spoken.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it's time to act.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670048"/>
            <a:ext cx="1920240" cy="1664208"/>
          </a:xfrm>
          <a:prstGeom prst="rect">
            <a:avLst/>
          </a:prstGeom>
          <a:solidFill>
            <a:srgbClr val="111D2E"/>
          </a:solidFill>
          <a:ln w="6350">
            <a:solidFill>
              <a:srgbClr val="1F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segments deeply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670048"/>
            <a:ext cx="1920240" cy="1664208"/>
          </a:xfrm>
          <a:prstGeom prst="rect">
            <a:avLst/>
          </a:prstGeom>
          <a:solidFill>
            <a:srgbClr val="111D2E"/>
          </a:solidFill>
          <a:ln w="6350">
            <a:solidFill>
              <a:srgbClr val="1F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42032" y="32004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precision, not breadth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670048"/>
            <a:ext cx="1920240" cy="1664208"/>
          </a:xfrm>
          <a:prstGeom prst="rect">
            <a:avLst/>
          </a:prstGeom>
          <a:solidFill>
            <a:srgbClr val="111D2E"/>
          </a:solidFill>
          <a:ln w="6350">
            <a:solidFill>
              <a:srgbClr val="1F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26864" y="32004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shoppers into subscribers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2670048"/>
            <a:ext cx="1920240" cy="1664208"/>
          </a:xfrm>
          <a:prstGeom prst="rect">
            <a:avLst/>
          </a:prstGeom>
          <a:solidFill>
            <a:srgbClr val="111D2E"/>
          </a:solidFill>
          <a:ln w="6350">
            <a:solidFill>
              <a:srgbClr val="1F33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11696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11696" y="32004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11696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from behavioural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766</Words>
  <Application>Microsoft Office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Generational Divide in Shopping</dc:title>
  <dc:subject>PptxGenJS Presentation</dc:subject>
  <dc:creator>Gabriel Bello-ososo</dc:creator>
  <cp:lastModifiedBy>Gabriel Bello-ososo</cp:lastModifiedBy>
  <cp:revision>5</cp:revision>
  <dcterms:created xsi:type="dcterms:W3CDTF">2026-02-23T20:27:39Z</dcterms:created>
  <dcterms:modified xsi:type="dcterms:W3CDTF">2026-03-31T12:07:36Z</dcterms:modified>
</cp:coreProperties>
</file>